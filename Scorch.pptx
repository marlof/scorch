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56" r:id="rId3"/>
    <p:sldId id="267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AC6D76-22EC-4282-9670-ED144A2E23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12A97-F37E-4602-BFF7-4362AD0B73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48914-9597-41CD-8270-175363A932ED}" type="datetimeFigureOut">
              <a:rPr lang="en-GB" smtClean="0"/>
              <a:t>28/04/2021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FD71D-4BEF-490F-B762-612BF088F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1A939-406A-4C05-9AEC-7FE726766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BC5F6-6C0E-46B4-9462-CAE9E78E2D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918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E10D8-4AF2-440F-A86E-1CAC95BF61C8}" type="datetimeFigureOut">
              <a:rPr lang="en-GB" smtClean="0"/>
              <a:t>28/04/2021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9A0C7-EA87-4DF9-BBB7-E31350A62D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2725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12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820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164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58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873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444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8698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43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053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167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9A0C7-EA87-4DF9-BBB7-E31350A62DF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17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lof/ScORC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b.docker.com/r/webmarcit/scorch-demo" TargetMode="External"/><Relationship Id="rId4" Type="http://schemas.openxmlformats.org/officeDocument/2006/relationships/hyperlink" Target="http://www.autoscorc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286D-E09C-4C6A-9FBB-3D52F873A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Scorch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D6ADE-4DA9-4C63-9634-AAFBF4CB6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Software/Configuration Orchestration</a:t>
            </a:r>
          </a:p>
          <a:p>
            <a:endParaRPr lang="en-GB" dirty="0"/>
          </a:p>
          <a:p>
            <a:r>
              <a:rPr lang="en-GB" dirty="0"/>
              <a:t>By Marc Loftus</a:t>
            </a:r>
          </a:p>
        </p:txBody>
      </p:sp>
    </p:spTree>
    <p:extLst>
      <p:ext uri="{BB962C8B-B14F-4D97-AF65-F5344CB8AC3E}">
        <p14:creationId xmlns:p14="http://schemas.microsoft.com/office/powerpoint/2010/main" val="39365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0A21-88D1-4A35-845A-8BE398B0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051F-BA8F-4BD9-A145-D65F1149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i="1" dirty="0"/>
              <a:t>Simplicity is a great virtue but it requires hard work to achieve it and education to appreciate it. </a:t>
            </a:r>
          </a:p>
          <a:p>
            <a:pPr marL="0" indent="0">
              <a:buNone/>
            </a:pPr>
            <a:r>
              <a:rPr lang="en-GB" i="1" dirty="0"/>
              <a:t>- </a:t>
            </a:r>
            <a:r>
              <a:rPr lang="en-GB" i="1" dirty="0" err="1"/>
              <a:t>Edsger</a:t>
            </a:r>
            <a:r>
              <a:rPr lang="en-GB" i="1" dirty="0"/>
              <a:t> W. Dijkstra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89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083C-381C-4C18-AB62-F4E59E3C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ScOrch</a:t>
            </a:r>
            <a:r>
              <a:rPr lang="en-GB" dirty="0"/>
              <a:t> - 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0EB8C-850B-444B-8D66-0D4715578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Concept written as a test suite orchestrator in the 1990s</a:t>
            </a:r>
          </a:p>
          <a:p>
            <a:r>
              <a:rPr lang="en-GB" dirty="0"/>
              <a:t>Modified to be an infrastructure setup tool</a:t>
            </a:r>
          </a:p>
          <a:p>
            <a:pPr lvl="1"/>
            <a:r>
              <a:rPr lang="en-GB" dirty="0"/>
              <a:t>Used by internet gateway provider to rebuild 500 servers</a:t>
            </a:r>
          </a:p>
          <a:p>
            <a:r>
              <a:rPr lang="en-GB" dirty="0"/>
              <a:t>Later, abstracted the configuration from the process to create a reusable framework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04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AC5F-AB17-4380-8497-F8F5BF55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Scorch Provides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3DCC-ABD3-483D-85C2-3804217FA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dirty="0" err="1"/>
              <a:t>ScOrch</a:t>
            </a:r>
            <a:r>
              <a:rPr lang="en-GB" dirty="0"/>
              <a:t> pipelines provide:</a:t>
            </a:r>
          </a:p>
          <a:p>
            <a:pPr fontAlgn="base"/>
            <a:r>
              <a:rPr lang="en-GB" dirty="0"/>
              <a:t>Parallel runs</a:t>
            </a:r>
          </a:p>
          <a:p>
            <a:pPr fontAlgn="base"/>
            <a:r>
              <a:rPr lang="en-GB" dirty="0"/>
              <a:t>Team collaboration </a:t>
            </a:r>
          </a:p>
          <a:p>
            <a:pPr fontAlgn="base"/>
            <a:r>
              <a:rPr lang="en-GB" dirty="0"/>
              <a:t>Reuse</a:t>
            </a:r>
          </a:p>
          <a:p>
            <a:pPr fontAlgn="base"/>
            <a:r>
              <a:rPr lang="en-GB" dirty="0"/>
              <a:t>Auditing</a:t>
            </a:r>
          </a:p>
          <a:p>
            <a:pPr fontAlgn="base"/>
            <a:r>
              <a:rPr lang="en-GB" dirty="0"/>
              <a:t>Break glass solutions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935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4042-FAB3-4743-87A8-7A0D5496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Scorch –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ACAEF-0ACD-4566-9A08-7F7642EB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GB" dirty="0"/>
              <a:t>Infrastructure (spinning up hardware and creating virtual machines)</a:t>
            </a:r>
          </a:p>
          <a:p>
            <a:pPr fontAlgn="base"/>
            <a:r>
              <a:rPr lang="en-GB" dirty="0"/>
              <a:t>Software Configuration Management (configuration audit control, software packaging and application release note generation)</a:t>
            </a:r>
          </a:p>
          <a:p>
            <a:pPr fontAlgn="base"/>
            <a:r>
              <a:rPr lang="en-GB" dirty="0"/>
              <a:t>Documentation (creating live documents for and given system configuration)</a:t>
            </a:r>
          </a:p>
          <a:p>
            <a:pPr fontAlgn="base"/>
            <a:r>
              <a:rPr lang="en-GB" dirty="0"/>
              <a:t>Release and Deployment Management (deploying application and database code)</a:t>
            </a:r>
          </a:p>
          <a:p>
            <a:pPr fontAlgn="base"/>
            <a:r>
              <a:rPr lang="en-GB" dirty="0"/>
              <a:t>Test Management (running test cycles and generating defect tickets and signing off artefacts and applications)</a:t>
            </a:r>
          </a:p>
          <a:p>
            <a:pPr fontAlgn="base"/>
            <a:r>
              <a:rPr lang="en-GB" dirty="0"/>
              <a:t>Performance Management (Metrics capturing)</a:t>
            </a:r>
          </a:p>
          <a:p>
            <a:pPr fontAlgn="base"/>
            <a:r>
              <a:rPr lang="en-GB" dirty="0"/>
              <a:t>Support Services (restarting systems and application, monitoring, housekeeping, reporting)</a:t>
            </a:r>
          </a:p>
          <a:p>
            <a:pPr fontAlgn="base"/>
            <a:r>
              <a:rPr lang="en-GB" dirty="0"/>
              <a:t>Middleware and Application Management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087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B6B4-9125-404F-8752-1B970507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n-GB" sz="2800" dirty="0"/>
              <a:t>Scorch </a:t>
            </a:r>
            <a:br>
              <a:rPr lang="en-GB" sz="2800" dirty="0"/>
            </a:br>
            <a:r>
              <a:rPr lang="en-GB" sz="2800" dirty="0"/>
              <a:t>Data Model</a:t>
            </a:r>
          </a:p>
        </p:txBody>
      </p:sp>
      <p:sp>
        <p:nvSpPr>
          <p:cNvPr id="73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222B13-4CD8-415E-AFF9-196B25BD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1275276"/>
            <a:ext cx="6112382" cy="43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C7D1ADBB-4FC9-470F-BB70-744977BE1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4442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B813-62B5-40CE-9EAA-D7EDBFC8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Scorch – Requests/Templates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8B1E5F-813C-4145-A085-800744E0B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265" y="4160748"/>
            <a:ext cx="15517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  : RESTART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Component : APACHE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Server    : W4QVAP1026</a:t>
            </a:r>
            <a:endParaRPr lang="en-US" altLang="en-US" sz="1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FD49909-7573-4C00-8E55-3D3731688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7953" y="2107885"/>
            <a:ext cx="119904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   : STOP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Project    : FCRM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Type       : DB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Environment: PPD1</a:t>
            </a:r>
            <a:endParaRPr lang="en-US" alt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58D5A-C9D4-4977-BD95-D7882DA904C3}"/>
              </a:ext>
            </a:extLst>
          </p:cNvPr>
          <p:cNvSpPr/>
          <p:nvPr/>
        </p:nvSpPr>
        <p:spPr>
          <a:xfrm>
            <a:off x="4941265" y="1727756"/>
            <a:ext cx="5186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Stop services on a server type in an environment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7B6E0-BB46-4244-9F60-4A04B610B0C7}"/>
              </a:ext>
            </a:extLst>
          </p:cNvPr>
          <p:cNvSpPr/>
          <p:nvPr/>
        </p:nvSpPr>
        <p:spPr>
          <a:xfrm>
            <a:off x="1141413" y="3273633"/>
            <a:ext cx="3266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Deploy ALL to an environment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DEC2C0C-0E56-4D5B-BEF0-BB02D7AA7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070" y="3642965"/>
            <a:ext cx="1269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  : DEPLOY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Project   : FCRM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 err="1">
                <a:latin typeface="Consolas" panose="020B0609020204030204" pitchFamily="49" charset="0"/>
              </a:rPr>
              <a:t>Environmet</a:t>
            </a:r>
            <a:r>
              <a:rPr lang="en-US" altLang="en-US" sz="1000" dirty="0">
                <a:latin typeface="Consolas" panose="020B0609020204030204" pitchFamily="49" charset="0"/>
              </a:rPr>
              <a:t>: UAT</a:t>
            </a:r>
            <a:endParaRPr lang="en-US" alt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A155ED-D582-4A3E-AB76-9D4798FF5592}"/>
              </a:ext>
            </a:extLst>
          </p:cNvPr>
          <p:cNvSpPr/>
          <p:nvPr/>
        </p:nvSpPr>
        <p:spPr>
          <a:xfrm>
            <a:off x="4842653" y="3765231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Arial" panose="020B0604020202020204" pitchFamily="34" charset="0"/>
              </a:rPr>
              <a:t>Restart apache on a server</a:t>
            </a:r>
            <a:endParaRPr lang="en-GB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F93371C-7015-473C-A0DF-3B7D22EF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885076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0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D7C6-54DB-4883-8D01-BD13CE9A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Scorch – request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F81D-BDC4-482E-A1FC-0F27BF95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3302D9-435D-4847-A1D8-0FE98FE5B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276" y="2249487"/>
            <a:ext cx="8202566" cy="336748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 SP_SAFEDEMO()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2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3   # Additional variables can be passed with the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GetVar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command 3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GetVar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-pattern "Pause" -name "PAUSE" -default "60"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4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GetVar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-pattern "Fail" -name "FAIL" -default "0"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6   # The task command can be used to run command line tasks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7   Task "hostname" 8 Task "sleep ${PAUSE}"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10   # Task commands can be wrap in standard shell conditional statements or loops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11   if [ ${FAIL} -ne 0 ] ; then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12     Task "false"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13   fi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15   # A manual task can be set with the Manual 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16   Manual "This is a manual step"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18   # This Try command will not stop the rest of the tasks if the task fails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19   Try "false will fail"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21   # A Sleep command can be used to both sleep and leave a log trail of how long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22   Sleep 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23 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1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BB99-EE77-4E07-8740-A58E1513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Scorch – REUSE plugins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E052B6-21EE-4EE9-AE64-C59AF33912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947510"/>
            <a:ext cx="3331975" cy="1428495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174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SP_RESTART()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SP_STOP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BBBBBB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  Sleep 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BBBBBB"/>
              </a:solidFill>
              <a:effectLst/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 SP_START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BBBBB"/>
                </a:solidFill>
                <a:effectLst/>
                <a:latin typeface="Courier 10 Pitch"/>
              </a:rPr>
              <a:t>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D9E99BB-DF63-44E2-B3A6-5C0876F2A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3618" y="2272934"/>
            <a:ext cx="169277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    : RESTART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Project     : EPP</a:t>
            </a:r>
            <a:endParaRPr lang="en-US" altLang="en-US" sz="800" dirty="0"/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Application : APACHE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Server      : W4QVAP1026</a:t>
            </a:r>
            <a:endParaRPr lang="en-US" altLang="en-US" sz="1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8C4019-E6D4-47CD-B93C-36E44CAE1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636" y="3311034"/>
            <a:ext cx="3331975" cy="1705494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1740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SP_STOP()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  </a:t>
            </a:r>
            <a:r>
              <a:rPr lang="en-US" altLang="en-US" sz="900" dirty="0" err="1">
                <a:solidFill>
                  <a:srgbClr val="BBBBBB"/>
                </a:solidFill>
                <a:latin typeface="Courier 10 Pitch"/>
              </a:rPr>
              <a:t>GetVar</a:t>
            </a: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-pattern “application" -name APP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en-US" altLang="en-US" sz="900" dirty="0">
              <a:solidFill>
                <a:srgbClr val="BBBBBB"/>
              </a:solidFill>
              <a:latin typeface="Courier 10 Pitch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  Sleep 60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en-US" altLang="en-US" sz="900" dirty="0">
              <a:solidFill>
                <a:srgbClr val="BBBBBB"/>
              </a:solidFill>
              <a:latin typeface="Courier 10 Pitch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  SP_START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en-US" altLang="en-US" sz="900" dirty="0">
              <a:solidFill>
                <a:srgbClr val="BBBBBB"/>
              </a:solidFill>
              <a:latin typeface="Courier 10 Pitch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  Task "</a:t>
            </a:r>
            <a:r>
              <a:rPr lang="en-US" altLang="en-US" sz="900" dirty="0" err="1">
                <a:solidFill>
                  <a:srgbClr val="BBBBBB"/>
                </a:solidFill>
                <a:latin typeface="Courier 10 Pitch"/>
              </a:rPr>
              <a:t>ps</a:t>
            </a: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-</a:t>
            </a:r>
            <a:r>
              <a:rPr lang="en-US" altLang="en-US" sz="900" dirty="0" err="1">
                <a:solidFill>
                  <a:srgbClr val="BBBBBB"/>
                </a:solidFill>
                <a:latin typeface="Courier 10 Pitch"/>
              </a:rPr>
              <a:t>ef</a:t>
            </a: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 | grep $APP"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900" dirty="0">
                <a:solidFill>
                  <a:srgbClr val="BBBBBB"/>
                </a:solidFill>
                <a:latin typeface="Courier 10 Pitch"/>
              </a:rPr>
              <a:t>}</a:t>
            </a:r>
            <a:r>
              <a:rPr lang="en-US" altLang="en-US" sz="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63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4F091-AD49-4951-92DA-184EC979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AE2481-AFF5-4000-8063-C08AA3318E3F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2253035" y="3026568"/>
            <a:ext cx="1622239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    : DRINK-TEA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BB268D-FCAD-4764-B4F6-BFB64074C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035" y="3991472"/>
            <a:ext cx="162223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    : DRINK-TEA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Strength    : strong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Size        : mug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Sugar       : 3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Ticket      : Bob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8C54F12-8C2E-459B-B6C3-27236438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034" y="2061664"/>
            <a:ext cx="148117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    : LONGRUN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E0209EE-4EA0-401D-AFA5-4FA96FDF6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370" y="2023219"/>
            <a:ext cx="183383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      : DEMO-GROUP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Label       : L1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Ticket      : ISAPPSG-1208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endParaRPr lang="en-US" altLang="en-US" sz="1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Action      : LONGRUN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Parent      : L1</a:t>
            </a:r>
          </a:p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US" altLang="en-US" sz="1000" dirty="0">
                <a:latin typeface="Consolas" panose="020B0609020204030204" pitchFamily="49" charset="0"/>
              </a:rPr>
              <a:t>Ticket      : ISAPPSG-1207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68C1188-C608-4719-BE55-7238474EC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3035" y="5231886"/>
            <a:ext cx="4231928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Tx/>
              <a:buFontTx/>
              <a:buNone/>
            </a:pPr>
            <a:r>
              <a:rPr lang="en-GB" altLang="en-US" sz="1000" dirty="0">
                <a:latin typeface="Consolas" panose="020B0609020204030204" pitchFamily="49" charset="0"/>
              </a:rPr>
              <a:t>/opt/scorch/scorch -a DRINK-TEA -o </a:t>
            </a:r>
            <a:r>
              <a:rPr lang="en-GB" altLang="en-US" sz="1000" dirty="0" err="1">
                <a:latin typeface="Consolas" panose="020B0609020204030204" pitchFamily="49" charset="0"/>
              </a:rPr>
              <a:t>Ticket:Marc</a:t>
            </a:r>
            <a:r>
              <a:rPr lang="en-GB" altLang="en-US" sz="1000" dirty="0">
                <a:latin typeface="Consolas" panose="020B0609020204030204" pitchFamily="49" charset="0"/>
              </a:rPr>
              <a:t> -o Milk:1 -s</a:t>
            </a:r>
          </a:p>
        </p:txBody>
      </p:sp>
    </p:spTree>
    <p:extLst>
      <p:ext uri="{BB962C8B-B14F-4D97-AF65-F5344CB8AC3E}">
        <p14:creationId xmlns:p14="http://schemas.microsoft.com/office/powerpoint/2010/main" val="281241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848D-C4DE-4F22-BD1C-FE9AA924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EFD2-540F-4337-BB29-DB19E4BF8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https://github.com/marlof/ScORCH</a:t>
            </a:r>
            <a:endParaRPr lang="en-GB" dirty="0"/>
          </a:p>
          <a:p>
            <a:r>
              <a:rPr lang="en-GB" dirty="0">
                <a:hlinkClick r:id="rId4"/>
              </a:rPr>
              <a:t>http://www.autoscorch.com/</a:t>
            </a:r>
            <a:endParaRPr lang="en-GB" dirty="0"/>
          </a:p>
          <a:p>
            <a:r>
              <a:rPr lang="en-GB" dirty="0">
                <a:hlinkClick r:id="rId5"/>
              </a:rPr>
              <a:t>https://hub.docker.com/r/webmarcit/scorch-demo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8349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180d06e4-a44d-42a9-abe2-9bd0f71c347d" origin="defaultValue"/>
</file>

<file path=customXml/itemProps1.xml><?xml version="1.0" encoding="utf-8"?>
<ds:datastoreItem xmlns:ds="http://schemas.openxmlformats.org/officeDocument/2006/customXml" ds:itemID="{3B47829B-E243-4AA6-B282-3A156550211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431</TotalTime>
  <Words>603</Words>
  <Application>Microsoft Office PowerPoint</Application>
  <PresentationFormat>Widescreen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Courier 10 Pitch</vt:lpstr>
      <vt:lpstr>Tw Cen MT</vt:lpstr>
      <vt:lpstr>Circuit</vt:lpstr>
      <vt:lpstr>Scorch</vt:lpstr>
      <vt:lpstr>PowerPoint Presentation</vt:lpstr>
      <vt:lpstr>ScOrch - What is it?</vt:lpstr>
      <vt:lpstr>Scorch Provides</vt:lpstr>
      <vt:lpstr>Scorch – use cases</vt:lpstr>
      <vt:lpstr>Scorch  Data Model</vt:lpstr>
      <vt:lpstr>Scorch – Requests/Templates</vt:lpstr>
      <vt:lpstr>Scorch – request plugins</vt:lpstr>
      <vt:lpstr>Scorch – REUSE plugins</vt:lpstr>
      <vt:lpstr>Demo</vt:lpstr>
      <vt:lpstr>More info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Scorch</dc:title>
  <dc:creator>Loftus, Marc (Basildon)</dc:creator>
  <dc:description> _x000d_
 _x000d_
 _x000d_
 _x000d_
                                           @2020 Fiserv Inc, or its affiliates   |   </dc:description>
  <cp:lastModifiedBy>Loftus, Marc (Basildon)</cp:lastModifiedBy>
  <cp:revision>12</cp:revision>
  <dcterms:created xsi:type="dcterms:W3CDTF">2021-04-28T10:13:52Z</dcterms:created>
  <dcterms:modified xsi:type="dcterms:W3CDTF">2021-04-28T17:25:20Z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ac46e6e6-3ce4-455c-9520-5e5a90c093cd</vt:lpwstr>
  </property>
  <property fmtid="{D5CDD505-2E9C-101B-9397-08002B2CF9AE}" pid="3" name="bjDocumentSecurityLabel">
    <vt:lpwstr>This item has no classification</vt:lpwstr>
  </property>
  <property fmtid="{D5CDD505-2E9C-101B-9397-08002B2CF9AE}" pid="4" name="bjClsUserRVM">
    <vt:lpwstr>[]</vt:lpwstr>
  </property>
  <property fmtid="{D5CDD505-2E9C-101B-9397-08002B2CF9AE}" pid="5" name="bjSaver">
    <vt:lpwstr>XsDVkL9MmnU3n/0Mi9ranCWhvP/HiLEn</vt:lpwstr>
  </property>
</Properties>
</file>